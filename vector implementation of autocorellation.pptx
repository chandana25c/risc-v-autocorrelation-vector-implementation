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434" r:id="rId3"/>
    <p:sldId id="436" r:id="rId4"/>
    <p:sldId id="421" r:id="rId5"/>
    <p:sldId id="422" r:id="rId7"/>
    <p:sldId id="437" r:id="rId8"/>
    <p:sldId id="425" r:id="rId9"/>
    <p:sldId id="426" r:id="rId10"/>
    <p:sldId id="427" r:id="rId11"/>
    <p:sldId id="428" r:id="rId12"/>
    <p:sldId id="429" r:id="rId13"/>
    <p:sldId id="430" r:id="rId14"/>
    <p:sldId id="4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7BA"/>
    <a:srgbClr val="FE5D5B"/>
    <a:srgbClr val="D2DEEF"/>
    <a:srgbClr val="EAEFF7"/>
    <a:srgbClr val="AF0501"/>
    <a:srgbClr val="E6E6E6"/>
    <a:srgbClr val="1C1C1C"/>
    <a:srgbClr val="1B5682"/>
    <a:srgbClr val="A67048"/>
    <a:srgbClr val="D8BB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4840" autoAdjust="0"/>
  </p:normalViewPr>
  <p:slideViewPr>
    <p:cSldViewPr snapToGrid="0">
      <p:cViewPr varScale="1">
        <p:scale>
          <a:sx n="78" d="100"/>
          <a:sy n="78" d="100"/>
        </p:scale>
        <p:origin x="97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838FE-5934-4A8F-BDF8-186BEDFE22F5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FF850-EB02-4DFE-AD03-21B2D082309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4FF850-EB02-4DFE-AD03-21B2D0823096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4FF850-EB02-4DFE-AD03-21B2D0823096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8626-DFA1-49E6-8791-31809C8DDA2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DF2A-B47B-4E9F-BA77-F7C3FEEF8F6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8626-DFA1-49E6-8791-31809C8DDA2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DF2A-B47B-4E9F-BA77-F7C3FEEF8F6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8626-DFA1-49E6-8791-31809C8DDA2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DF2A-B47B-4E9F-BA77-F7C3FEEF8F6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8626-DFA1-49E6-8791-31809C8DDA2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DF2A-B47B-4E9F-BA77-F7C3FEEF8F6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8626-DFA1-49E6-8791-31809C8DDA24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DF2A-B47B-4E9F-BA77-F7C3FEEF8F6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8626-DFA1-49E6-8791-31809C8DDA24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DF2A-B47B-4E9F-BA77-F7C3FEEF8F6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8626-DFA1-49E6-8791-31809C8DDA24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DF2A-B47B-4E9F-BA77-F7C3FEEF8F6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8626-DFA1-49E6-8791-31809C8DDA2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DF2A-B47B-4E9F-BA77-F7C3FEEF8F6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8626-DFA1-49E6-8791-31809C8DDA2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DF2A-B47B-4E9F-BA77-F7C3FEEF8F6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8626-DFA1-49E6-8791-31809C8DDA2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DF2A-B47B-4E9F-BA77-F7C3FEEF8F6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8626-DFA1-49E6-8791-31809C8DDA2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EDF2A-B47B-4E9F-BA77-F7C3FEEF8F6D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53784" y="6620749"/>
            <a:ext cx="609738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ko-KR" sz="700" b="1" dirty="0">
                <a:solidFill>
                  <a:srgbClr val="A4A8A9"/>
                </a:solidFill>
              </a:rPr>
              <a:t>2022 Samsung Research. All rights reserved</a:t>
            </a:r>
            <a:endParaRPr lang="en-US" altLang="ko-KR" sz="700" b="1" dirty="0">
              <a:solidFill>
                <a:srgbClr val="A4A8A9"/>
              </a:solidFill>
            </a:endParaRPr>
          </a:p>
        </p:txBody>
      </p:sp>
      <p:pic>
        <p:nvPicPr>
          <p:cNvPr id="4" name="그래픽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1138" y="241344"/>
            <a:ext cx="1683993" cy="177263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 hasCustomPrompt="1"/>
          </p:nvPr>
        </p:nvSpPr>
        <p:spPr>
          <a:xfrm>
            <a:off x="939621" y="233344"/>
            <a:ext cx="7404279" cy="461315"/>
          </a:xfrm>
          <a:prstGeom prst="rect">
            <a:avLst/>
          </a:prstGeom>
        </p:spPr>
        <p:txBody>
          <a:bodyPr wrap="none" lIns="0" anchor="ctr"/>
          <a:lstStyle>
            <a:lvl1pPr>
              <a:defRPr sz="2700" b="1"/>
            </a:lvl1pPr>
          </a:lstStyle>
          <a:p>
            <a:r>
              <a:rPr lang="en-US" altLang="ko-KR" dirty="0"/>
              <a:t>Insert your section title</a:t>
            </a:r>
            <a:endParaRPr lang="ko-KR" altLang="en-US" dirty="0"/>
          </a:p>
        </p:txBody>
      </p:sp>
      <p:sp>
        <p:nvSpPr>
          <p:cNvPr id="7" name="내용 개체 틀 2"/>
          <p:cNvSpPr>
            <a:spLocks noGrp="1"/>
          </p:cNvSpPr>
          <p:nvPr>
            <p:ph idx="13" hasCustomPrompt="1"/>
          </p:nvPr>
        </p:nvSpPr>
        <p:spPr>
          <a:xfrm>
            <a:off x="490537" y="2156460"/>
            <a:ext cx="11219325" cy="4050030"/>
          </a:xfrm>
          <a:prstGeom prst="rect">
            <a:avLst/>
          </a:prstGeom>
        </p:spPr>
        <p:txBody>
          <a:bodyPr lIns="90000" rIns="90000"/>
          <a:lstStyle>
            <a:lvl1pPr marL="0" indent="0" latinLnBrk="0">
              <a:buFontTx/>
              <a:buNone/>
              <a:defRPr lang="ko-KR" altLang="en-US" sz="1800" spc="-30" baseline="0">
                <a:solidFill>
                  <a:schemeClr val="bg1"/>
                </a:solidFill>
              </a:defRPr>
            </a:lvl1pPr>
            <a:lvl2pPr>
              <a:defRPr lang="ko-KR" altLang="en-US"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ko-KR" altLang="en-US"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ko-KR" altLang="en-US" sz="1600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ko-KR" altLang="en-US" sz="16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marL="228600" lvl="0" indent="-228600"/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8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490537" y="1244227"/>
            <a:ext cx="11219325" cy="641723"/>
          </a:xfrm>
          <a:prstGeom prst="rect">
            <a:avLst/>
          </a:prstGeom>
        </p:spPr>
        <p:txBody>
          <a:bodyPr/>
          <a:lstStyle>
            <a:lvl1pPr marL="361950" indent="-361950">
              <a:lnSpc>
                <a:spcPct val="100000"/>
              </a:lnSpc>
              <a:buSzPct val="70000"/>
              <a:buFontTx/>
              <a:buBlip>
                <a:blip r:embed="rId4"/>
              </a:buBlip>
              <a:defRPr sz="3500" b="1"/>
            </a:lvl1pPr>
          </a:lstStyle>
          <a:p>
            <a:pPr lvl="0"/>
            <a:r>
              <a:rPr lang="en-US" altLang="ko-KR" dirty="0"/>
              <a:t>Write text here</a:t>
            </a:r>
            <a:endParaRPr lang="en-US" altLang="ko-KR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02"/>
          <a:stretch>
            <a:fillRect/>
          </a:stretch>
        </p:blipFill>
        <p:spPr>
          <a:xfrm>
            <a:off x="2467" y="0"/>
            <a:ext cx="12187066" cy="97371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F8626-DFA1-49E6-8791-31809C8DDA2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EDF2A-B47B-4E9F-BA77-F7C3FEEF8F6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915" y="233045"/>
            <a:ext cx="9525635" cy="461010"/>
          </a:xfrm>
        </p:spPr>
        <p:txBody>
          <a:bodyPr>
            <a:normAutofit fontScale="90000"/>
          </a:bodyPr>
          <a:p>
            <a:pPr algn="l"/>
            <a:r>
              <a:rPr lang="en-IN" dirty="0">
                <a:sym typeface="+mn-ea"/>
              </a:rPr>
              <a:t>R</a:t>
            </a:r>
            <a:r>
              <a:rPr lang="en-IN" sz="222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ISC-V Vector implementation of autocorrelation on RISC-V vector cores (Arianne/CVA6)</a:t>
            </a:r>
            <a:endParaRPr lang="en-US" sz="222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90220" y="1243965"/>
            <a:ext cx="11219180" cy="5352415"/>
          </a:xfrm>
        </p:spPr>
        <p:txBody>
          <a:bodyPr/>
          <a:p>
            <a:pPr marL="0" indent="0">
              <a:buNone/>
            </a:pPr>
            <a:r>
              <a:rPr lang="en-US">
                <a:sym typeface="+mn-ea"/>
              </a:rPr>
              <a:t>         </a:t>
            </a:r>
            <a:r>
              <a:rPr 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CAMBRIDGE INSTITUTE OF TECHNOLOGY ,KR PURAM BENGALURU</a:t>
            </a:r>
            <a:endParaRPr lang="en-US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TOPIC: </a:t>
            </a:r>
            <a:r>
              <a:rPr lang="en-IN" sz="2000" dirty="0">
                <a:sym typeface="+mn-ea"/>
              </a:rPr>
              <a:t>R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ISC-V Vector implementation of autocorrelation on RISC-V vector cores (Arianne/CVA6)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TEAM MEMBERS: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NAME                          SEM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1. MANIDEEPA G       6th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2. MOUNA G.S           6th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3. CHANDANA .C        4th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4.  GNANESH               4th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9" name="Content Placeholder 8"/>
          <p:cNvPicPr>
            <a:picLocks noChangeAspect="1"/>
          </p:cNvPicPr>
          <p:nvPr>
            <p:ph idx="13"/>
          </p:nvPr>
        </p:nvPicPr>
        <p:blipFill>
          <a:blip r:embed="rId1"/>
          <a:stretch>
            <a:fillRect/>
          </a:stretch>
        </p:blipFill>
        <p:spPr>
          <a:xfrm>
            <a:off x="125095" y="1440815"/>
            <a:ext cx="11642090" cy="38563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621" y="187164"/>
            <a:ext cx="7404279" cy="46131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0077BA"/>
                </a:solidFill>
                <a:latin typeface="+mn-lt"/>
              </a:rPr>
              <a:t>Project summary</a:t>
            </a:r>
            <a:endParaRPr lang="en-IN" sz="2800" dirty="0">
              <a:solidFill>
                <a:srgbClr val="0077BA"/>
              </a:solidFill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836" y="1056554"/>
            <a:ext cx="2773494" cy="15245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776" y="1056554"/>
            <a:ext cx="2751551" cy="15245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0" y="1056554"/>
            <a:ext cx="2329312" cy="1524533"/>
          </a:xfrm>
          <a:prstGeom prst="rect">
            <a:avLst/>
          </a:prstGeom>
        </p:spPr>
      </p:pic>
      <p:sp>
        <p:nvSpPr>
          <p:cNvPr id="6" name="Left-Right Arrow 5"/>
          <p:cNvSpPr/>
          <p:nvPr/>
        </p:nvSpPr>
        <p:spPr>
          <a:xfrm>
            <a:off x="3805382" y="1690255"/>
            <a:ext cx="691864" cy="360218"/>
          </a:xfrm>
          <a:prstGeom prst="left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Left-Right Arrow 7"/>
          <p:cNvSpPr/>
          <p:nvPr/>
        </p:nvSpPr>
        <p:spPr>
          <a:xfrm>
            <a:off x="7002912" y="1681019"/>
            <a:ext cx="691864" cy="360218"/>
          </a:xfrm>
          <a:prstGeom prst="left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69455" y="2599750"/>
            <a:ext cx="11157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Fig. 1. RISC-V instruction set architecture (ISA) based software-hardware ecosystem for communication and multimedia applications for end user.</a:t>
            </a:r>
            <a:endParaRPr lang="en-IN" sz="1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" y="3129194"/>
            <a:ext cx="1219199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u="sng" dirty="0"/>
              <a:t>Goal:</a:t>
            </a:r>
            <a:r>
              <a:rPr lang="en-IN" dirty="0"/>
              <a:t> </a:t>
            </a:r>
            <a:r>
              <a:rPr lang="en-IN" b="1" dirty="0"/>
              <a:t>Implement &amp; optimize autocorrelation algorithm on PULP RISC-V ISA simulator. Identify and implement hardware intrinsics that significantly accelerate the algorithm on the RISC-V compute platform.</a:t>
            </a:r>
            <a:endParaRPr lang="en-IN" b="1" dirty="0"/>
          </a:p>
        </p:txBody>
      </p:sp>
      <p:pic>
        <p:nvPicPr>
          <p:cNvPr id="1026" name="Picture 2" descr="RISC-V for ultra-low power processing and AI on the edge - Electrical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905" y="3975142"/>
            <a:ext cx="3348235" cy="216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922598" y="6109657"/>
            <a:ext cx="341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a.</a:t>
            </a:r>
            <a:endParaRPr lang="en-IN" sz="12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556659" y="6128155"/>
            <a:ext cx="341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b.</a:t>
            </a:r>
            <a:endParaRPr lang="en-IN" sz="1200" b="1" dirty="0"/>
          </a:p>
        </p:txBody>
      </p:sp>
      <p:pic>
        <p:nvPicPr>
          <p:cNvPr id="9" name="Picture 2" descr="Visual comparison of convolution, cross-correlation and autocorrelation ...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054" y="3975142"/>
            <a:ext cx="2944551" cy="2134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369455" y="6359485"/>
            <a:ext cx="11157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Fig. 2. Algorithm for DSP applications in communication and multimedia. (a) 1D autocorrelation. (b) PULP RISC-V platform. </a:t>
            </a:r>
            <a:endParaRPr lang="en-IN"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621" y="187164"/>
            <a:ext cx="7404279" cy="46131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0077BA"/>
                </a:solidFill>
                <a:latin typeface="+mn-lt"/>
              </a:rPr>
              <a:t>Proposed approach</a:t>
            </a:r>
            <a:endParaRPr lang="en-IN" sz="2800" dirty="0">
              <a:solidFill>
                <a:srgbClr val="0077BA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582" y="1080655"/>
            <a:ext cx="108065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Survey and understand RISC-V ISA ecosystem [1][2][3]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Understand the algorithm [4]</a:t>
            </a:r>
            <a:endParaRPr lang="en-IN" dirty="0"/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Understand PULP, the RISC-V simulation platform, and get hands-on with implementing and profiling simpler functions on PULP DSP and accelerators [5][6][7]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Optimize the algorithm for high performance on RISC-V ISA simulator and analyse profiling statistics (cycle counts of sub-functions and algorithm)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Identify and propose custom extensions or intrinsics for faster implementation of algorithm on the RISC-V platform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3"/>
          </p:nvPr>
        </p:nvPicPr>
        <p:blipFill>
          <a:blip r:embed="rId1"/>
          <a:stretch>
            <a:fillRect/>
          </a:stretch>
        </p:blipFill>
        <p:spPr>
          <a:xfrm>
            <a:off x="695960" y="2156460"/>
            <a:ext cx="4508500" cy="405003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0" indent="0">
              <a:buNone/>
            </a:pP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MANUAL CALCULATION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2156460"/>
            <a:ext cx="3939540" cy="40493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EXAMPLE 1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3"/>
          </p:nvPr>
        </p:nvPicPr>
        <p:blipFill>
          <a:blip r:embed="rId1"/>
          <a:stretch>
            <a:fillRect/>
          </a:stretch>
        </p:blipFill>
        <p:spPr>
          <a:xfrm>
            <a:off x="712470" y="2061845"/>
            <a:ext cx="5170170" cy="405003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Program 1: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61845"/>
            <a:ext cx="5166360" cy="41471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EXAMPLE 1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3"/>
          </p:nvPr>
        </p:nvPicPr>
        <p:blipFill>
          <a:blip r:embed="rId1"/>
          <a:stretch>
            <a:fillRect/>
          </a:stretch>
        </p:blipFill>
        <p:spPr>
          <a:xfrm>
            <a:off x="1791970" y="1696085"/>
            <a:ext cx="8256905" cy="4629785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output :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EXAMPLE 2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3"/>
          </p:nvPr>
        </p:nvPicPr>
        <p:blipFill>
          <a:blip r:embed="rId1"/>
          <a:stretch>
            <a:fillRect/>
          </a:stretch>
        </p:blipFill>
        <p:spPr>
          <a:xfrm>
            <a:off x="582930" y="2230755"/>
            <a:ext cx="5325110" cy="405003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Program 2: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780" y="2231390"/>
            <a:ext cx="5540375" cy="4298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EXAMPLE 2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3"/>
          </p:nvPr>
        </p:nvPicPr>
        <p:blipFill>
          <a:blip r:embed="rId1"/>
          <a:stretch>
            <a:fillRect/>
          </a:stretch>
        </p:blipFill>
        <p:spPr>
          <a:xfrm>
            <a:off x="1374775" y="1886585"/>
            <a:ext cx="5400040" cy="3902075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Program 2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EXAMPLE 2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3"/>
          </p:nvPr>
        </p:nvPicPr>
        <p:blipFill>
          <a:blip r:embed="rId1"/>
          <a:stretch>
            <a:fillRect/>
          </a:stretch>
        </p:blipFill>
        <p:spPr>
          <a:xfrm>
            <a:off x="1525270" y="2156460"/>
            <a:ext cx="9148445" cy="405003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output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5" name="Content Placeholder 4"/>
          <p:cNvGraphicFramePr/>
          <p:nvPr>
            <p:ph idx="13"/>
            <p:custDataLst>
              <p:tags r:id="rId1"/>
            </p:custDataLst>
          </p:nvPr>
        </p:nvGraphicFramePr>
        <p:xfrm>
          <a:off x="772160" y="1646555"/>
          <a:ext cx="10304780" cy="3564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195"/>
                <a:gridCol w="2576195"/>
                <a:gridCol w="2576195"/>
                <a:gridCol w="2576195"/>
              </a:tblGrid>
              <a:tr h="9620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SEQUENCE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EXECUTED CYCLE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WALL CLOCK TIME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SIMULATION</a:t>
                      </a:r>
                      <a:endParaRPr lang="en-US"/>
                    </a:p>
                  </a:txBody>
                  <a:tcPr/>
                </a:tc>
              </a:tr>
              <a:tr h="12992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[</a:t>
                      </a:r>
                      <a:r>
                        <a:rPr lang="en-US" altLang="en-US"/>
                        <a:t>1.0, 2.0, 3.0, 2.5, 1.5, 2.0, 3.5, 2.0]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(2574)/(0XAOE)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3.186SEC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3009.42 CYCLES/SEC</a:t>
                      </a:r>
                      <a:endParaRPr lang="en-US"/>
                    </a:p>
                  </a:txBody>
                  <a:tcPr/>
                </a:tc>
              </a:tr>
              <a:tr h="13036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[</a:t>
                      </a:r>
                      <a:r>
                        <a:rPr lang="en-US" altLang="en-US"/>
                        <a:t>1.0, 2.0, 3.0, 2.5, 1.5, 2.0, 3.5, 2.0]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(2938)(OXB7A)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3.157 SEC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3342.41 CYCLES/SEC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>
          <a:xfrm>
            <a:off x="490220" y="1071880"/>
            <a:ext cx="11219180" cy="5134610"/>
          </a:xfrm>
        </p:spPr>
        <p:txBody>
          <a:bodyPr/>
          <a:p>
            <a:endParaRPr lang="en-US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en-US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en-US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en-US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en-US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en-US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r>
              <a:rPr lang="en-US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                                          </a:t>
            </a:r>
            <a:r>
              <a:rPr lang="en-US" sz="880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Broadway" panose="04040905080B02020502" charset="0"/>
                <a:cs typeface="Broadway" panose="04040905080B02020502" charset="0"/>
              </a:rPr>
              <a:t> THANK YOU</a:t>
            </a:r>
            <a:endParaRPr lang="en-US" sz="880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Broadway" panose="04040905080B02020502" charset="0"/>
              <a:cs typeface="Broadway" panose="04040905080B02020502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11*199"/>
  <p:tag name="TABLE_ENDDRAG_RECT" val="116*151*811*19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1753</Words>
  <Application>WPS Presentation</Application>
  <PresentationFormat>Widescreen</PresentationFormat>
  <Paragraphs>90</Paragraphs>
  <Slides>12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Broadway</vt:lpstr>
      <vt:lpstr>Calibri</vt:lpstr>
      <vt:lpstr>Calibri Light</vt:lpstr>
      <vt:lpstr>Microsoft YaHei</vt:lpstr>
      <vt:lpstr>Arial Unicode MS</vt:lpstr>
      <vt:lpstr>Malgun Gothic</vt:lpstr>
      <vt:lpstr>Office Theme</vt:lpstr>
      <vt:lpstr>RISC-V Vector implementation of autocorrelation on RISC-V vector cores (Arianne/CVA6)</vt:lpstr>
      <vt:lpstr>PowerPoint 演示文稿</vt:lpstr>
      <vt:lpstr>Project summary</vt:lpstr>
      <vt:lpstr>Proposed approach</vt:lpstr>
      <vt:lpstr>PowerPoint 演示文稿</vt:lpstr>
      <vt:lpstr>EXAMPLE 1</vt:lpstr>
      <vt:lpstr>EXAMPLE 1</vt:lpstr>
      <vt:lpstr>EXAMPLE 2</vt:lpstr>
      <vt:lpstr>EXAMPLE 2</vt:lpstr>
      <vt:lpstr>EXAMPLE 2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sreekanth.v</dc:creator>
  <cp:lastModifiedBy>chandana.c</cp:lastModifiedBy>
  <cp:revision>2983</cp:revision>
  <dcterms:created xsi:type="dcterms:W3CDTF">2020-12-09T09:05:00Z</dcterms:created>
  <dcterms:modified xsi:type="dcterms:W3CDTF">2025-09-18T05:21:32Z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ICV">
    <vt:lpwstr>87AAE7E9B26C45769086AF392B13C184_13</vt:lpwstr>
  </property>
  <property fmtid="{D5CDD505-2E9C-101B-9397-08002B2CF9AE}" pid="4" name="KSOProductBuildVer">
    <vt:lpwstr>1033-12.2.0.21931</vt:lpwstr>
  </property>
</Properties>
</file>